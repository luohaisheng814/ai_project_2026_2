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3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4E7C89-A37F-AAE7-9360-1EC3F9C11B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7DBA31A-C6D6-668F-E85D-5C81ED7AA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1716AD-B366-3E2A-F954-60F03902F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19D59-3838-4548-B764-B0F59B5FF45A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8CA953-6C77-14F9-1F3E-4DFD6D6F1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2FE22C-A84D-317F-9FAD-4F37EF28E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C057-909A-47C7-BDA8-2D7660991C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331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D66B47-0048-157B-C5A8-D8559CCEC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394D61-A01A-7D0E-C8EB-178B7615A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F4959-B1EC-4598-DFBB-56511DBD5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19D59-3838-4548-B764-B0F59B5FF45A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9BB72A-CAFE-4D01-5941-04CD92BF1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8A8D69-02A9-E360-AC87-FCBD5B86B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C057-909A-47C7-BDA8-2D7660991C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5036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759D37-F770-39C5-50AD-6B697E362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CE0271-92DA-6B6E-F5B4-D8674B614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BD53C5-5FCE-E041-CF90-96F17CF49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19D59-3838-4548-B764-B0F59B5FF45A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8ACD5F-2517-6F92-BDF3-25B4A41D7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3DF99A-4DC7-6F84-123A-EC91ABF85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C057-909A-47C7-BDA8-2D7660991C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47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7A7E94-B32B-B57C-6345-B0B104605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514F3A-954E-0E41-3319-3E26BA769F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1416E3-91AB-1657-0D2A-120CAFB6EC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8057B9-E36A-3660-E244-E5A7E1EDF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19D59-3838-4548-B764-B0F59B5FF45A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48D3D4-E784-791B-D2F4-62E3A79AE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C4660B-7F99-80C4-23AC-211F52ED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C057-909A-47C7-BDA8-2D7660991C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338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016F2C-D8DB-5B1E-6363-833969ABB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85B2AC-9894-B23E-478C-6B28A42BD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BB58B0-678B-6154-820B-F90F7C924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DECFE63-1873-8E4D-84C1-F66CAF4C5C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92D06B3-2EFD-C296-4919-08C19BFA15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3E48A4A-34FC-E478-41E4-2739CC0A8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19D59-3838-4548-B764-B0F59B5FF45A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C763312-3B37-AA3A-D7C2-CBD6FF5D0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9F538C6-A0DD-F751-F12F-617138F88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C057-909A-47C7-BDA8-2D7660991C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559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323A37-623C-5BCF-1471-00FD68E29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253FC80-A56F-085B-F358-147068DE0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19D59-3838-4548-B764-B0F59B5FF45A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5EE5038-54E5-6898-5BD4-2F399027F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149E27E-6CC9-7A3D-DBDF-F77DFA8A5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C057-909A-47C7-BDA8-2D7660991C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101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BA7DFF1-FDA0-33D6-734D-B07DACA4D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19D59-3838-4548-B764-B0F59B5FF45A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15CF3EF-D19E-C533-92B8-59C34EC2A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A2D386-DC22-28EC-D426-B17083F41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C057-909A-47C7-BDA8-2D7660991C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811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51AAE-3913-0C18-5336-4ECC9DDB1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E57FC0-4F19-E7C4-ABBC-A95432B9D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067E3D-9D34-8816-3B3B-3EFA4B2F2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B29278-EEF5-E2FA-2B6C-5F1AAEDA2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19D59-3838-4548-B764-B0F59B5FF45A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C3E163-6770-EACF-203D-5C3E3862F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32D1D5-E04A-6775-79EB-FBB46706C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C057-909A-47C7-BDA8-2D7660991C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403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D1A74F-5C6E-B123-336C-AFA5A9470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56A86D9-1998-2519-FAE3-DBE921AEC91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ACF32D-5F86-463A-CA65-ED7AEF983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60B2C7-0384-7B5C-7371-A355C7B7F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19D59-3838-4548-B764-B0F59B5FF45A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589878-CA27-489F-31DF-227AA7C7C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1487EE-0C27-CABC-AADF-0876A473D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C057-909A-47C7-BDA8-2D7660991C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65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69E109-9A70-6C4B-C0CC-A17EDBAD2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50D40B-236B-2AC5-2C6E-6BA67D05E5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D7074D-0F0D-5631-EF7B-5868742EE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19D59-3838-4548-B764-B0F59B5FF45A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DBD2DD-91A2-AC5F-D452-29BC50D79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A34702-8532-E302-84F8-BCD6488B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C057-909A-47C7-BDA8-2D7660991C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42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F8BD2F8-C7AC-05A2-321C-0712A9E50D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D87662-DBED-D6E5-8C88-1C10A91137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4FD1A7-23CE-A740-5BEE-81F783B8F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19D59-3838-4548-B764-B0F59B5FF45A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B10A2F-4EDC-BF8A-3098-817DEAB66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2E4145-3A20-32E9-2039-985DCF60C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C057-909A-47C7-BDA8-2D7660991C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785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D86E222-A08C-F05F-C4C7-215C932BD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D358D9-F3DC-D5DC-A87A-F3706AFA4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D0AC05-2272-AAEE-F601-12E25AB50C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19D59-3838-4548-B764-B0F59B5FF45A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8E35E7-E7F4-FC91-C96F-8F9BEE6235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C87E5C-F98F-64B9-4FE9-2F08AED877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29C057-909A-47C7-BDA8-2D7660991C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020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44C284-DFC0-96E9-A3FB-810950831E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釜山沙下区文旅与设施智能问答系统 </a:t>
            </a:r>
            <a:r>
              <a:rPr lang="en-US" altLang="zh-CN" dirty="0"/>
              <a:t>— </a:t>
            </a:r>
            <a:r>
              <a:rPr lang="zh-CN" altLang="en-US" dirty="0"/>
              <a:t>项目进展报告书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529CFC-180F-C53C-D12A-340CF49235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부산 사하구 문화관광 및 시설 지능형 </a:t>
            </a:r>
            <a:r>
              <a:rPr lang="en-US" altLang="ko-KR" dirty="0"/>
              <a:t>Q&amp;A </a:t>
            </a:r>
            <a:r>
              <a:rPr lang="ko-KR" altLang="en-US" dirty="0"/>
              <a:t>시스템 </a:t>
            </a:r>
            <a:r>
              <a:rPr lang="en-US" altLang="ko-KR" dirty="0"/>
              <a:t>— </a:t>
            </a:r>
            <a:r>
              <a:rPr lang="ko-KR" altLang="en-US" dirty="0"/>
              <a:t>프로젝트 진척 보고서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2720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4EA006-8B66-D1CA-A6AD-4F2E5DDC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08"/>
            <a:ext cx="10515600" cy="1325563"/>
          </a:xfrm>
        </p:spPr>
        <p:txBody>
          <a:bodyPr/>
          <a:lstStyle/>
          <a:p>
            <a:r>
              <a:rPr lang="zh-CN" altLang="en-US" dirty="0"/>
              <a:t>数据库重构与主系统更新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EA9FCE-B591-212D-85CC-67528EE12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8070"/>
            <a:ext cx="10515600" cy="4631192"/>
          </a:xfrm>
        </p:spPr>
        <p:txBody>
          <a:bodyPr/>
          <a:lstStyle/>
          <a:p>
            <a:r>
              <a:rPr lang="zh-CN" altLang="zh-CN" b="1" dirty="0"/>
              <a:t>核心知识库整理（rules.txt） </a:t>
            </a:r>
          </a:p>
          <a:p>
            <a:pPr lvl="0"/>
            <a:r>
              <a:rPr lang="zh-CN" altLang="zh-CN" dirty="0">
                <a:effectLst/>
              </a:rPr>
              <a:t>重新梳理了沙下区核心数据，涵盖</a:t>
            </a:r>
            <a:r>
              <a:rPr lang="zh-CN" altLang="zh-CN" b="1" dirty="0">
                <a:effectLst/>
              </a:rPr>
              <a:t>景点</a:t>
            </a:r>
            <a:r>
              <a:rPr lang="zh-CN" altLang="zh-CN" dirty="0">
                <a:effectLst/>
              </a:rPr>
              <a:t>（甘川文化村、多大浦海水浴场、洛东江河口生态中心等）与</a:t>
            </a:r>
            <a:r>
              <a:rPr lang="zh-CN" altLang="zh-CN" b="1" dirty="0">
                <a:effectLst/>
              </a:rPr>
              <a:t>便民设施</a:t>
            </a:r>
            <a:r>
              <a:rPr lang="zh-CN" altLang="zh-CN" dirty="0">
                <a:effectLst/>
              </a:rPr>
              <a:t>（银行、政府机关）。 </a:t>
            </a:r>
          </a:p>
          <a:p>
            <a:pPr lvl="0"/>
            <a:r>
              <a:rPr lang="zh-CN" altLang="zh-CN" dirty="0">
                <a:effectLst/>
              </a:rPr>
              <a:t>知识库采用</a:t>
            </a:r>
            <a:r>
              <a:rPr lang="zh-CN" altLang="zh-CN" b="1" dirty="0">
                <a:effectLst/>
              </a:rPr>
              <a:t>中韩英三语并列</a:t>
            </a:r>
            <a:r>
              <a:rPr lang="zh-CN" altLang="zh-CN" dirty="0">
                <a:effectLst/>
              </a:rPr>
              <a:t>结构，确保多语言检索的准确性。 </a:t>
            </a:r>
          </a:p>
          <a:p>
            <a:pPr lvl="0"/>
            <a:r>
              <a:rPr lang="zh-CN" altLang="zh-CN" dirty="0">
                <a:effectLst/>
              </a:rPr>
              <a:t>确立原则：</a:t>
            </a:r>
            <a:r>
              <a:rPr lang="zh-CN" altLang="zh-CN" dirty="0"/>
              <a:t>rules.txt</a:t>
            </a:r>
            <a:r>
              <a:rPr lang="zh-CN" altLang="zh-CN" dirty="0">
                <a:effectLst/>
              </a:rPr>
              <a:t> 作为</a:t>
            </a:r>
            <a:r>
              <a:rPr lang="zh-CN" altLang="zh-CN" b="1" dirty="0">
                <a:effectLst/>
              </a:rPr>
              <a:t>核心数据库原样不动</a:t>
            </a:r>
            <a:r>
              <a:rPr lang="zh-CN" altLang="zh-CN" dirty="0">
                <a:effectLst/>
              </a:rPr>
              <a:t>，所有检索逻辑均以其为最终回退数据源。</a:t>
            </a:r>
          </a:p>
          <a:p>
            <a:endParaRPr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8D5727D-1333-439B-B524-07D392042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660469"/>
              </p:ext>
            </p:extLst>
          </p:nvPr>
        </p:nvGraphicFramePr>
        <p:xfrm>
          <a:off x="838200" y="4480560"/>
          <a:ext cx="1051560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40996611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649842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模块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功能说明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3087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classifier.py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按四大玩法自动分类（艺术村落/海岸休闲/湿地生态/小众渔港），生成 activity_classified/ 独立文件及适合人群三语文件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9860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lang_detect.py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中韩英三语自动检测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1699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recommend.py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个性化推荐 + 意图预测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644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user_tracker.py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用户行为追踪与会话管理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2144658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FBA2BDC-73C7-7C0B-E559-DBC81440DD32}"/>
              </a:ext>
            </a:extLst>
          </p:cNvPr>
          <p:cNvSpPr txBox="1"/>
          <p:nvPr/>
        </p:nvSpPr>
        <p:spPr>
          <a:xfrm>
            <a:off x="1436914" y="44805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b="1" dirty="0"/>
              <a:t>智能分类与检索架构升级 </a:t>
            </a:r>
          </a:p>
        </p:txBody>
      </p:sp>
    </p:spTree>
    <p:extLst>
      <p:ext uri="{BB962C8B-B14F-4D97-AF65-F5344CB8AC3E}">
        <p14:creationId xmlns:p14="http://schemas.microsoft.com/office/powerpoint/2010/main" val="2129553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765FCF-6150-8AA9-83EF-48E237E51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 재구성 및 메인 시스템 업데이트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8417B5-296A-88E7-50BF-FD6AC1AC8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8376" y="1806770"/>
            <a:ext cx="5867400" cy="4462053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핵심 지식 베이스 정리 </a:t>
            </a:r>
            <a:r>
              <a:rPr lang="en-US" altLang="ko-KR" sz="2400" dirty="0"/>
              <a:t>(rules.txt)</a:t>
            </a:r>
          </a:p>
          <a:p>
            <a:r>
              <a:rPr lang="ko-KR" altLang="en-US" sz="2400" dirty="0"/>
              <a:t> 사하구 핵심 데이터를 재정비하여 관광지</a:t>
            </a:r>
            <a:r>
              <a:rPr lang="en-US" altLang="ko-KR" sz="2400" dirty="0"/>
              <a:t>(</a:t>
            </a:r>
            <a:r>
              <a:rPr lang="ko-KR" altLang="en-US" sz="2400" dirty="0"/>
              <a:t>감천문화마을</a:t>
            </a:r>
            <a:r>
              <a:rPr lang="en-US" altLang="ko-KR" sz="2400" dirty="0"/>
              <a:t>, </a:t>
            </a:r>
            <a:r>
              <a:rPr lang="ko-KR" altLang="en-US" sz="2400" dirty="0"/>
              <a:t>다대포해수욕장</a:t>
            </a:r>
            <a:r>
              <a:rPr lang="en-US" altLang="ko-KR" sz="2400" dirty="0"/>
              <a:t>, </a:t>
            </a:r>
            <a:r>
              <a:rPr lang="ko-KR" altLang="en-US" sz="2400" dirty="0"/>
              <a:t>낙동강 하구 생태센터 등</a:t>
            </a:r>
            <a:r>
              <a:rPr lang="en-US" altLang="ko-KR" sz="2400" dirty="0"/>
              <a:t>)</a:t>
            </a:r>
            <a:r>
              <a:rPr lang="ko-KR" altLang="en-US" sz="2400" dirty="0"/>
              <a:t>와 편의 시설</a:t>
            </a:r>
            <a:r>
              <a:rPr lang="en-US" altLang="ko-KR" sz="2400" dirty="0"/>
              <a:t>(</a:t>
            </a:r>
            <a:r>
              <a:rPr lang="ko-KR" altLang="en-US" sz="2400" dirty="0"/>
              <a:t>은행</a:t>
            </a:r>
            <a:r>
              <a:rPr lang="en-US" altLang="ko-KR" sz="2400" dirty="0"/>
              <a:t>, </a:t>
            </a:r>
            <a:r>
              <a:rPr lang="ko-KR" altLang="en-US" sz="2400" dirty="0"/>
              <a:t>정부 기관</a:t>
            </a:r>
            <a:r>
              <a:rPr lang="en-US" altLang="ko-KR" sz="2400" dirty="0"/>
              <a:t>)</a:t>
            </a:r>
            <a:r>
              <a:rPr lang="ko-KR" altLang="en-US" sz="2400" dirty="0"/>
              <a:t>을 포괄함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지식 베이스는 중국어</a:t>
            </a:r>
            <a:r>
              <a:rPr lang="en-US" altLang="ko-KR" sz="2400" dirty="0"/>
              <a:t>·</a:t>
            </a:r>
            <a:r>
              <a:rPr lang="ko-KR" altLang="en-US" sz="2400" dirty="0"/>
              <a:t>한국어</a:t>
            </a:r>
            <a:r>
              <a:rPr lang="en-US" altLang="ko-KR" sz="2400" dirty="0"/>
              <a:t>·</a:t>
            </a:r>
            <a:r>
              <a:rPr lang="ko-KR" altLang="en-US" sz="2400" dirty="0"/>
              <a:t>영어 </a:t>
            </a:r>
            <a:r>
              <a:rPr lang="en-US" altLang="ko-KR" sz="2400" dirty="0"/>
              <a:t>3</a:t>
            </a:r>
            <a:r>
              <a:rPr lang="ko-KR" altLang="en-US" sz="2400" dirty="0"/>
              <a:t>개 국어 병렬 구조를 채택하여 다국어 검색의 정확성을 보장함</a:t>
            </a:r>
            <a:r>
              <a:rPr lang="en-US" altLang="ko-KR" sz="2400" dirty="0"/>
              <a:t>.</a:t>
            </a:r>
          </a:p>
          <a:p>
            <a:r>
              <a:rPr lang="zh-CN" altLang="zh-CN" sz="2400" dirty="0"/>
              <a:t>원칙 확립: rules.txt는 핵심 데이터베이스로서 원본 그대로 유지하며, 모든 검색 로직의 최종 폴백(Fallback) 데이터 소스로 삼음. </a:t>
            </a:r>
          </a:p>
          <a:p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AF30B3B-A187-1C7C-E681-9C3323BAF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272898"/>
              </p:ext>
            </p:extLst>
          </p:nvPr>
        </p:nvGraphicFramePr>
        <p:xfrm>
          <a:off x="131976" y="2106802"/>
          <a:ext cx="5486400" cy="3535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1448">
                  <a:extLst>
                    <a:ext uri="{9D8B030D-6E8A-4147-A177-3AD203B41FA5}">
                      <a16:colId xmlns:a16="http://schemas.microsoft.com/office/drawing/2014/main" val="2949257300"/>
                    </a:ext>
                  </a:extLst>
                </a:gridCol>
                <a:gridCol w="4274952">
                  <a:extLst>
                    <a:ext uri="{9D8B030D-6E8A-4147-A177-3AD203B41FA5}">
                      <a16:colId xmlns:a16="http://schemas.microsoft.com/office/drawing/2014/main" val="3683168929"/>
                    </a:ext>
                  </a:extLst>
                </a:gridCol>
              </a:tblGrid>
              <a:tr h="476581">
                <a:tc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r>
                        <a:rPr lang="zh-CN" dirty="0">
                          <a:effectLst/>
                        </a:rPr>
                        <a:t>모듈</a:t>
                      </a:r>
                      <a:endParaRPr lang="zh-CN" b="1" dirty="0">
                        <a:effectLst/>
                      </a:endParaRPr>
                    </a:p>
                  </a:txBody>
                  <a:tcPr marR="127000" marT="63500" marB="63500" anchor="ctr"/>
                </a:tc>
                <a:tc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r>
                        <a:rPr lang="zh-CN" dirty="0">
                          <a:effectLst/>
                        </a:rPr>
                        <a:t>기능 설명</a:t>
                      </a:r>
                      <a:endParaRPr lang="zh-CN" b="1" dirty="0">
                        <a:effectLst/>
                      </a:endParaRPr>
                    </a:p>
                  </a:txBody>
                  <a:tcPr marR="127000" marT="63500" marB="63500" anchor="ctr"/>
                </a:tc>
                <a:extLst>
                  <a:ext uri="{0D108BD9-81ED-4DB2-BD59-A6C34878D82A}">
                    <a16:rowId xmlns:a16="http://schemas.microsoft.com/office/drawing/2014/main" val="725742477"/>
                  </a:ext>
                </a:extLst>
              </a:tr>
              <a:tr h="145387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CN" dirty="0">
                          <a:effectLst/>
                        </a:rPr>
                        <a:t>classifier.py</a:t>
                      </a:r>
                    </a:p>
                  </a:txBody>
                  <a:tcPr marR="127000" marT="63500" marB="635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CN" dirty="0">
                          <a:effectLst/>
                        </a:rPr>
                        <a:t>4가지 주요 테마(예술 마을/해안 휴식/습지 생태/소규모 어항)에 따라 자동 분류, activity_classified/ 개별 파일 및 적합 인구 3개 국어 파일 생성</a:t>
                      </a:r>
                    </a:p>
                  </a:txBody>
                  <a:tcPr marR="127000" marT="63500" marB="63500" anchor="ctr"/>
                </a:tc>
                <a:extLst>
                  <a:ext uri="{0D108BD9-81ED-4DB2-BD59-A6C34878D82A}">
                    <a16:rowId xmlns:a16="http://schemas.microsoft.com/office/drawing/2014/main" val="460771806"/>
                  </a:ext>
                </a:extLst>
              </a:tr>
              <a:tr h="802344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CN">
                          <a:effectLst/>
                        </a:rPr>
                        <a:t>lang_detect.py</a:t>
                      </a:r>
                    </a:p>
                  </a:txBody>
                  <a:tcPr marR="127000" marT="63500" marB="635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CN" dirty="0">
                          <a:effectLst/>
                        </a:rPr>
                        <a:t>중·한·영 3개 국어 자동 감지</a:t>
                      </a:r>
                    </a:p>
                  </a:txBody>
                  <a:tcPr marR="127000" marT="63500" marB="63500" anchor="ctr"/>
                </a:tc>
                <a:extLst>
                  <a:ext uri="{0D108BD9-81ED-4DB2-BD59-A6C34878D82A}">
                    <a16:rowId xmlns:a16="http://schemas.microsoft.com/office/drawing/2014/main" val="73152343"/>
                  </a:ext>
                </a:extLst>
              </a:tr>
              <a:tr h="802344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CN">
                          <a:effectLst/>
                        </a:rPr>
                        <a:t>recommend.py</a:t>
                      </a:r>
                    </a:p>
                  </a:txBody>
                  <a:tcPr marR="127000" marT="63500" marB="635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CN" dirty="0">
                          <a:effectLst/>
                        </a:rPr>
                        <a:t>개인화 추천 + 의도 예측</a:t>
                      </a:r>
                    </a:p>
                  </a:txBody>
                  <a:tcPr marR="127000" marT="63500" marB="63500" anchor="ctr"/>
                </a:tc>
                <a:extLst>
                  <a:ext uri="{0D108BD9-81ED-4DB2-BD59-A6C34878D82A}">
                    <a16:rowId xmlns:a16="http://schemas.microsoft.com/office/drawing/2014/main" val="105365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2907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1EF0B8-381C-93AD-DE2E-B5E173219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D19017-BA9E-4FA7-28A5-2A6E22A3C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zh-CN" b="1" dirty="0"/>
              <a:t>检索逻辑（当前生效方案）</a:t>
            </a:r>
            <a:r>
              <a:rPr lang="zh-CN" altLang="zh-CN" dirty="0"/>
              <a:t>：</a:t>
            </a:r>
          </a:p>
          <a:p>
            <a:pPr lvl="0"/>
            <a:r>
              <a:rPr lang="zh-CN" altLang="zh-CN" b="1" dirty="0">
                <a:effectLst/>
              </a:rPr>
              <a:t>景点实体识别</a:t>
            </a:r>
            <a:r>
              <a:rPr lang="zh-CN" altLang="zh-CN" dirty="0">
                <a:effectLst/>
              </a:rPr>
              <a:t>（</a:t>
            </a:r>
            <a:r>
              <a:rPr lang="zh-CN" altLang="zh-CN" dirty="0"/>
              <a:t>SPOT_ALIAS</a:t>
            </a:r>
            <a:r>
              <a:rPr lang="zh-CN" altLang="zh-CN" dirty="0">
                <a:effectLst/>
              </a:rPr>
              <a:t> 别名映射）+ </a:t>
            </a:r>
            <a:r>
              <a:rPr lang="zh-CN" altLang="zh-CN" b="1" dirty="0">
                <a:effectLst/>
              </a:rPr>
              <a:t>意图识别</a:t>
            </a:r>
            <a:r>
              <a:rPr lang="zh-CN" altLang="zh-CN" dirty="0">
                <a:effectLst/>
              </a:rPr>
              <a:t>（概况/交通/适合人群/玩法等） </a:t>
            </a:r>
          </a:p>
          <a:p>
            <a:pPr lvl="0"/>
            <a:r>
              <a:rPr lang="zh-CN" altLang="zh-CN" dirty="0">
                <a:effectLst/>
              </a:rPr>
              <a:t>优先查询 </a:t>
            </a:r>
            <a:r>
              <a:rPr lang="zh-CN" altLang="zh-CN" dirty="0"/>
              <a:t>activity_classified/</a:t>
            </a:r>
            <a:r>
              <a:rPr lang="zh-CN" altLang="zh-CN" dirty="0">
                <a:effectLst/>
              </a:rPr>
              <a:t> 分类文件夹 </a:t>
            </a:r>
          </a:p>
          <a:p>
            <a:pPr lvl="0"/>
            <a:r>
              <a:rPr lang="zh-CN" altLang="zh-CN" dirty="0">
                <a:effectLst/>
              </a:rPr>
              <a:t>未命中则回退至 </a:t>
            </a:r>
            <a:r>
              <a:rPr lang="zh-CN" altLang="zh-CN" dirty="0"/>
              <a:t>rules.txt</a:t>
            </a:r>
            <a:r>
              <a:rPr lang="zh-CN" altLang="zh-CN" dirty="0">
                <a:effectLst/>
              </a:rPr>
              <a:t> </a:t>
            </a:r>
          </a:p>
          <a:p>
            <a:pPr lvl="0"/>
            <a:r>
              <a:rPr lang="zh-CN" altLang="zh-CN" dirty="0">
                <a:effectLst/>
              </a:rPr>
              <a:t>均无结果时提示"暂无相关内容，请待开发者补充" </a:t>
            </a:r>
          </a:p>
          <a:p>
            <a:pPr lvl="0"/>
            <a:r>
              <a:rPr lang="zh-CN" altLang="zh-CN" dirty="0">
                <a:effectLst/>
              </a:rPr>
              <a:t>输入"沙下区"自动列出 5 个核心景点</a:t>
            </a:r>
          </a:p>
          <a:p>
            <a:pPr lvl="0"/>
            <a:r>
              <a:rPr lang="zh-CN" altLang="zh-CN" dirty="0">
                <a:effectLst/>
              </a:rPr>
              <a:t>新增 </a:t>
            </a:r>
            <a:r>
              <a:rPr lang="zh-CN" altLang="zh-CN" dirty="0"/>
              <a:t>core_api.py</a:t>
            </a:r>
            <a:r>
              <a:rPr lang="zh-CN" altLang="zh-CN" dirty="0">
                <a:effectLst/>
              </a:rPr>
              <a:t> 作为</a:t>
            </a:r>
            <a:r>
              <a:rPr lang="zh-CN" altLang="zh-CN" b="1" dirty="0">
                <a:effectLst/>
              </a:rPr>
              <a:t>底层逻辑与 UI 的解耦层</a:t>
            </a:r>
            <a:r>
              <a:rPr lang="zh-CN" altLang="zh-CN" dirty="0">
                <a:effectLst/>
              </a:rPr>
              <a:t>，提供 </a:t>
            </a:r>
            <a:r>
              <a:rPr lang="zh-CN" altLang="zh-CN" dirty="0"/>
              <a:t>ask()</a:t>
            </a:r>
            <a:r>
              <a:rPr lang="zh-CN" altLang="zh-CN" dirty="0">
                <a:effectLst/>
              </a:rPr>
              <a:t> 统一接口。 </a:t>
            </a:r>
          </a:p>
          <a:p>
            <a:pPr lvl="0"/>
            <a:r>
              <a:rPr lang="zh-CN" altLang="zh-CN" dirty="0">
                <a:effectLst/>
              </a:rPr>
              <a:t>返回值结构：</a:t>
            </a:r>
            <a:r>
              <a:rPr lang="zh-CN" altLang="zh-CN" dirty="0"/>
              <a:t>reply / intent / spot / lang / recommendation / prediction / session_count</a:t>
            </a:r>
            <a:r>
              <a:rPr lang="zh-CN" altLang="zh-CN" dirty="0">
                <a:effectLst/>
              </a:rPr>
              <a:t>。 </a:t>
            </a:r>
          </a:p>
          <a:p>
            <a:pPr lvl="0"/>
            <a:r>
              <a:rPr lang="zh-CN" altLang="zh-CN" dirty="0">
                <a:effectLst/>
              </a:rPr>
              <a:t>内置会话管理：每 3 轮触发推荐，每 5 轮触发意图预测。 </a:t>
            </a:r>
          </a:p>
          <a:p>
            <a:pPr lvl="0"/>
            <a:r>
              <a:rPr lang="zh-CN" altLang="zh-CN" b="1" dirty="0">
                <a:effectLst/>
              </a:rPr>
              <a:t>架构优势</a:t>
            </a:r>
            <a:r>
              <a:rPr lang="zh-CN" altLang="zh-CN" dirty="0">
                <a:effectLst/>
              </a:rPr>
              <a:t>：底层逻辑变更时，UI 层无需任何修改，只需调用 </a:t>
            </a:r>
            <a:r>
              <a:rPr lang="zh-CN" altLang="zh-CN" dirty="0"/>
              <a:t>ask()</a:t>
            </a:r>
            <a:r>
              <a:rPr lang="zh-CN" altLang="zh-CN" dirty="0">
                <a:effectLst/>
              </a:rPr>
              <a:t> 即可获取最新回复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3389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9BCAD3-F56E-C30B-764E-A99539812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zh-CN" altLang="zh-CN" b="1" dirty="0"/>
              <a:t> 검색 로직 (현재 적용 중인 방안)</a:t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917D71-FE70-12EC-F7CB-68CA82345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zh-CN" dirty="0"/>
              <a:t>관광지 엔티티 인식(SPOT_ALIAS 별칭 매핑) + 의도 인식(개요/교통/적합 인구/놀이 방식 등) </a:t>
            </a:r>
          </a:p>
          <a:p>
            <a:pPr lvl="0"/>
            <a:r>
              <a:rPr lang="zh-CN" altLang="zh-CN" dirty="0"/>
              <a:t>우선 activity_classified/ 분류 폴더 조회 </a:t>
            </a:r>
          </a:p>
          <a:p>
            <a:pPr lvl="0"/>
            <a:r>
              <a:rPr lang="zh-CN" altLang="zh-CN" dirty="0"/>
              <a:t>조회 실패 시 rules.txt로 폴백 </a:t>
            </a:r>
          </a:p>
          <a:p>
            <a:pPr lvl="0"/>
            <a:r>
              <a:rPr lang="zh-CN" altLang="zh-CN" dirty="0"/>
              <a:t>결과가 없을 경우 "관련 내용이 아직 없습니다. 개발자 보충을 기다려 주세요" 안내 </a:t>
            </a:r>
          </a:p>
          <a:p>
            <a:pPr lvl="0"/>
            <a:r>
              <a:rPr lang="zh-CN" altLang="zh-CN" dirty="0"/>
              <a:t>"사하구" 입력 시 5개 핵심 관광지 자동 나열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4122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A851C4-612D-B473-8941-A0F90205E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桌面版开发（ui_desktop.py）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83EE79-2A42-CFE4-9A89-D30360278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zh-CN" dirty="0">
                <a:effectLst/>
              </a:rPr>
              <a:t>采用 </a:t>
            </a:r>
            <a:r>
              <a:rPr lang="zh-CN" altLang="zh-CN" b="1" dirty="0">
                <a:effectLst/>
              </a:rPr>
              <a:t>CustomTkinter</a:t>
            </a:r>
            <a:r>
              <a:rPr lang="zh-CN" altLang="zh-CN" dirty="0">
                <a:effectLst/>
              </a:rPr>
              <a:t>​ 构建桌面应用，调用 </a:t>
            </a:r>
            <a:r>
              <a:rPr lang="zh-CN" altLang="zh-CN" dirty="0"/>
              <a:t>core_api.ask()</a:t>
            </a:r>
            <a:r>
              <a:rPr lang="zh-CN" altLang="zh-CN" dirty="0">
                <a:effectLst/>
              </a:rPr>
              <a:t> 实现问答交互。 </a:t>
            </a:r>
          </a:p>
          <a:p>
            <a:pPr lvl="0"/>
            <a:r>
              <a:rPr lang="zh-CN" altLang="zh-CN" dirty="0">
                <a:effectLst/>
              </a:rPr>
              <a:t>功能：深色主题、景点快捷按钮、聊天记录自动滚动、会话重置。 </a:t>
            </a:r>
          </a:p>
          <a:p>
            <a:pPr lvl="0"/>
            <a:r>
              <a:rPr lang="zh-CN" altLang="zh-CN" dirty="0">
                <a:effectLst/>
              </a:rPr>
              <a:t>依赖 </a:t>
            </a:r>
            <a:r>
              <a:rPr lang="zh-CN" altLang="zh-CN" dirty="0"/>
              <a:t>customtkinter</a:t>
            </a:r>
            <a:r>
              <a:rPr lang="zh-CN" altLang="zh-CN" dirty="0">
                <a:effectLst/>
              </a:rPr>
              <a:t> 库，可在 Windows 本地直接运行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1485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A815FA-4F09-7A1D-251C-3DF4963C8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통합 인터페이스 레이어 (core_api.py)</a:t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83BA22-FA04-E23F-0667-D0E4CAB0B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zh-CN" altLang="zh-CN" dirty="0"/>
              <a:t>core_api.py를 신규 추가하여 하위 로직과 UI의 디커플링(Decoupling) 레이어로 삼고, ask() 통합 인터페이스 제공. </a:t>
            </a:r>
          </a:p>
          <a:p>
            <a:pPr lvl="0"/>
            <a:r>
              <a:rPr lang="zh-CN" altLang="zh-CN" dirty="0"/>
              <a:t> 반환 값 구조: reply / intent / spot / lang / recommendation / prediction / session_count </a:t>
            </a:r>
          </a:p>
          <a:p>
            <a:pPr lvl="0"/>
            <a:r>
              <a:rPr lang="zh-CN" altLang="zh-CN" dirty="0"/>
              <a:t>내장 세션 관리: 3턴마다 추천 트리거, 5턴마다 의도 예측 트리거. </a:t>
            </a:r>
          </a:p>
          <a:p>
            <a:pPr lvl="0"/>
            <a:r>
              <a:rPr lang="zh-CN" altLang="zh-CN" dirty="0"/>
              <a:t>아키텍처 장점: 하위 로직 변경 시 UI 레이어는 수정할 필요 없이 ask()만 호출하면 최신 응답을 받을 수 있음.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9779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215660-2D5C-8EC5-328A-AA3530D6D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下一步计划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780AB846-9D61-166F-8C8B-ACC812A503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83460" y="1809098"/>
          <a:ext cx="10425080" cy="4384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12540">
                  <a:extLst>
                    <a:ext uri="{9D8B030D-6E8A-4147-A177-3AD203B41FA5}">
                      <a16:colId xmlns:a16="http://schemas.microsoft.com/office/drawing/2014/main" val="3118026454"/>
                    </a:ext>
                  </a:extLst>
                </a:gridCol>
                <a:gridCol w="5212540">
                  <a:extLst>
                    <a:ext uri="{9D8B030D-6E8A-4147-A177-3AD203B41FA5}">
                      <a16:colId xmlns:a16="http://schemas.microsoft.com/office/drawing/2014/main" val="3788921544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优化方向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具体措施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633257501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快捷问题模板​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在手机 App 侧边栏和首页添加分类模板按钮（如"🎨 艺术村落推荐"、"🌅 日落最佳观赏点"、"🚇 交通指南"），用户一键点击即可发送预设问题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507375466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输入框智能提示​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用户输入时实时联想（如输入"甘川"自动提示"甘川文化村 概况"、"甘川文化村 怎么去"）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242954016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多轮对话引导​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机器人回复末尾追加相关追问（如回答完"概况"后提示"需要了解交通或适合人群吗？"），降低用户思考成本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473576034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场景化模板页​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新增"一日游路线模板"、"亲子游推荐"、"拍照打卡攻略"等预设场景，用户选择后系统自动串联多个问题并输出结构化答案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4274859019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多语言模板切换​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根据用户检测到的语言，动态切换模板按钮的显示语言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993210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8517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1FA5C-5A38-22FC-693A-FFBB6385C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다음 단계 계획</a:t>
            </a:r>
            <a:endParaRPr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B02AA90B-3C9B-7F4C-E3CE-64166B0922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8432573"/>
              </p:ext>
            </p:extLst>
          </p:nvPr>
        </p:nvGraphicFramePr>
        <p:xfrm>
          <a:off x="565607" y="1825625"/>
          <a:ext cx="10671143" cy="43513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66594">
                  <a:extLst>
                    <a:ext uri="{9D8B030D-6E8A-4147-A177-3AD203B41FA5}">
                      <a16:colId xmlns:a16="http://schemas.microsoft.com/office/drawing/2014/main" val="2226128860"/>
                    </a:ext>
                  </a:extLst>
                </a:gridCol>
                <a:gridCol w="7904549">
                  <a:extLst>
                    <a:ext uri="{9D8B030D-6E8A-4147-A177-3AD203B41FA5}">
                      <a16:colId xmlns:a16="http://schemas.microsoft.com/office/drawing/2014/main" val="1699250362"/>
                    </a:ext>
                  </a:extLst>
                </a:gridCol>
              </a:tblGrid>
              <a:tr h="369528">
                <a:tc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br>
                        <a:rPr lang="zh-CN" sz="700" dirty="0">
                          <a:effectLst/>
                        </a:rPr>
                      </a:br>
                      <a:r>
                        <a:rPr lang="zh-CN" sz="700" dirty="0">
                          <a:effectLst/>
                        </a:rPr>
                        <a:t>최적화 방향</a:t>
                      </a:r>
                      <a:endParaRPr lang="zh-CN" sz="700" b="1" dirty="0">
                        <a:effectLst/>
                      </a:endParaRPr>
                    </a:p>
                  </a:txBody>
                  <a:tcPr marL="35570" marR="49402" marT="24701" marB="24701" anchor="ctr"/>
                </a:tc>
                <a:tc>
                  <a:txBody>
                    <a:bodyPr/>
                    <a:lstStyle/>
                    <a:p>
                      <a:pPr algn="l" fontAlgn="ctr" latinLnBrk="0">
                        <a:buNone/>
                      </a:pPr>
                      <a:br>
                        <a:rPr lang="zh-CN" sz="700" dirty="0">
                          <a:effectLst/>
                        </a:rPr>
                      </a:br>
                      <a:r>
                        <a:rPr lang="zh-CN" sz="700" dirty="0">
                          <a:effectLst/>
                        </a:rPr>
                        <a:t>구체적 조치</a:t>
                      </a:r>
                      <a:endParaRPr lang="zh-CN" sz="700" b="1" dirty="0">
                        <a:effectLst/>
                      </a:endParaRPr>
                    </a:p>
                  </a:txBody>
                  <a:tcPr marL="35570" marR="49402" marT="24701" marB="24701" anchor="ctr"/>
                </a:tc>
                <a:extLst>
                  <a:ext uri="{0D108BD9-81ED-4DB2-BD59-A6C34878D82A}">
                    <a16:rowId xmlns:a16="http://schemas.microsoft.com/office/drawing/2014/main" val="2322234896"/>
                  </a:ext>
                </a:extLst>
              </a:tr>
              <a:tr h="1009779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br>
                        <a:rPr lang="zh-CN" sz="700" dirty="0">
                          <a:effectLst/>
                        </a:rPr>
                      </a:br>
                      <a:r>
                        <a:rPr lang="zh-CN" sz="700" dirty="0">
                          <a:effectLst/>
                        </a:rPr>
                        <a:t>바로가기 질문 템플릿</a:t>
                      </a:r>
                    </a:p>
                  </a:txBody>
                  <a:tcPr marL="35570" marR="49402" marT="24701" marB="24701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CN" sz="700" dirty="0">
                          <a:effectLst/>
                        </a:rPr>
                        <a:t>모바일 앱 사이드바 및 홈에 분류 템플릿 버튼 추가(예: "예술 마을 추천", "일몰 최적 관측지", "교통 안내"), 사용자가 한 번 클릭하면 사전 설정된 질문 전송</a:t>
                      </a:r>
                    </a:p>
                  </a:txBody>
                  <a:tcPr marL="35570" marR="49402" marT="24701" marB="24701" anchor="ctr"/>
                </a:tc>
                <a:extLst>
                  <a:ext uri="{0D108BD9-81ED-4DB2-BD59-A6C34878D82A}">
                    <a16:rowId xmlns:a16="http://schemas.microsoft.com/office/drawing/2014/main" val="1599536109"/>
                  </a:ext>
                </a:extLst>
              </a:tr>
              <a:tr h="689653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br>
                        <a:rPr lang="zh-CN" sz="700" dirty="0">
                          <a:effectLst/>
                        </a:rPr>
                      </a:br>
                      <a:r>
                        <a:rPr lang="zh-CN" sz="700" dirty="0">
                          <a:effectLst/>
                        </a:rPr>
                        <a:t>입력창 스마트 팁</a:t>
                      </a:r>
                    </a:p>
                  </a:txBody>
                  <a:tcPr marL="35570" marR="49402" marT="24701" marB="24701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CN" sz="700" dirty="0">
                          <a:effectLst/>
                        </a:rPr>
                        <a:t>사용자 입력 시 실시간 연상(예: "감천" 입력 시 "감천문화마을 개요", "감천문화마을 가는 길" 자동 제안)</a:t>
                      </a:r>
                    </a:p>
                  </a:txBody>
                  <a:tcPr marL="35570" marR="49402" marT="24701" marB="24701" anchor="ctr"/>
                </a:tc>
                <a:extLst>
                  <a:ext uri="{0D108BD9-81ED-4DB2-BD59-A6C34878D82A}">
                    <a16:rowId xmlns:a16="http://schemas.microsoft.com/office/drawing/2014/main" val="3624524252"/>
                  </a:ext>
                </a:extLst>
              </a:tr>
              <a:tr h="796362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br>
                        <a:rPr lang="zh-CN" sz="700" dirty="0">
                          <a:effectLst/>
                        </a:rPr>
                      </a:br>
                      <a:r>
                        <a:rPr lang="zh-CN" sz="700" dirty="0">
                          <a:effectLst/>
                        </a:rPr>
                        <a:t>다중 턴 대화 유도</a:t>
                      </a:r>
                    </a:p>
                  </a:txBody>
                  <a:tcPr marL="35570" marR="49402" marT="24701" marB="24701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CN" sz="700" dirty="0">
                          <a:effectLst/>
                        </a:rPr>
                        <a:t>봇 응답 끝에 관련 추가 질문 첨부(예: "개요" 답변 후 "교통이나 적합 인구를 알고 싶으신가요?" 안내), 사용자 고민 비용 절감</a:t>
                      </a:r>
                    </a:p>
                  </a:txBody>
                  <a:tcPr marL="35570" marR="49402" marT="24701" marB="24701" anchor="ctr"/>
                </a:tc>
                <a:extLst>
                  <a:ext uri="{0D108BD9-81ED-4DB2-BD59-A6C34878D82A}">
                    <a16:rowId xmlns:a16="http://schemas.microsoft.com/office/drawing/2014/main" val="3228411020"/>
                  </a:ext>
                </a:extLst>
              </a:tr>
              <a:tr h="1009779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br>
                        <a:rPr lang="zh-CN" sz="700" dirty="0">
                          <a:effectLst/>
                        </a:rPr>
                      </a:br>
                      <a:r>
                        <a:rPr lang="zh-CN" sz="700" dirty="0">
                          <a:effectLst/>
                        </a:rPr>
                        <a:t>시나리오 템플릿 페이지</a:t>
                      </a:r>
                    </a:p>
                  </a:txBody>
                  <a:tcPr marL="35570" marR="49402" marT="24701" marB="24701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CN" sz="700" dirty="0">
                          <a:effectLst/>
                        </a:rPr>
                        <a:t>"당일 투어 코스 템플릿", "가족 여행 추천", "사진 명소 공략" 등 사전 설정 시나리오 신규 추가, 사용자 선택 시 시스템이 여러 질문을 자동 연결하여 구조화된 답변 출력</a:t>
                      </a:r>
                    </a:p>
                  </a:txBody>
                  <a:tcPr marL="35570" marR="49402" marT="24701" marB="24701" anchor="ctr"/>
                </a:tc>
                <a:extLst>
                  <a:ext uri="{0D108BD9-81ED-4DB2-BD59-A6C34878D82A}">
                    <a16:rowId xmlns:a16="http://schemas.microsoft.com/office/drawing/2014/main" val="729190825"/>
                  </a:ext>
                </a:extLst>
              </a:tr>
              <a:tr h="476236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br>
                        <a:rPr lang="zh-CN" sz="700" dirty="0">
                          <a:effectLst/>
                        </a:rPr>
                      </a:br>
                      <a:r>
                        <a:rPr lang="zh-CN" sz="700" dirty="0">
                          <a:effectLst/>
                        </a:rPr>
                        <a:t>다국어 템플릿 전환</a:t>
                      </a:r>
                    </a:p>
                  </a:txBody>
                  <a:tcPr marL="35570" marR="49402" marT="24701" marB="24701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CN" sz="700" dirty="0">
                          <a:effectLst/>
                        </a:rPr>
                        <a:t>사용자가 감지한 언어에 따라 템플릿 버튼 표시 언어 동적 전환</a:t>
                      </a:r>
                    </a:p>
                  </a:txBody>
                  <a:tcPr marL="35570" marR="49402" marT="24701" marB="24701" anchor="ctr"/>
                </a:tc>
                <a:extLst>
                  <a:ext uri="{0D108BD9-81ED-4DB2-BD59-A6C34878D82A}">
                    <a16:rowId xmlns:a16="http://schemas.microsoft.com/office/drawing/2014/main" val="1716982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0357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D59026-5F59-68DC-AD23-1847E52A3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zh-CN" altLang="zh-CN" b="1" dirty="0"/>
              <a:t>总结 </a:t>
            </a:r>
            <a:br>
              <a:rPr lang="zh-CN" altLang="zh-CN" b="1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ADF14F-BFB5-059A-99CA-FE8B93EC6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项目已完成</a:t>
            </a:r>
            <a:r>
              <a:rPr lang="zh-CN" altLang="zh-CN" b="1" dirty="0"/>
              <a:t>数据库重构</a:t>
            </a:r>
            <a:r>
              <a:rPr lang="zh-CN" altLang="zh-CN" dirty="0"/>
              <a:t>、</a:t>
            </a:r>
            <a:r>
              <a:rPr lang="zh-CN" altLang="zh-CN" b="1" dirty="0"/>
              <a:t>检索逻辑升级</a:t>
            </a:r>
            <a:r>
              <a:rPr lang="zh-CN" altLang="zh-CN" dirty="0"/>
              <a:t>及</a:t>
            </a:r>
            <a:r>
              <a:rPr lang="zh-CN" altLang="zh-CN" b="1" dirty="0"/>
              <a:t>统一接口层</a:t>
            </a:r>
            <a:r>
              <a:rPr lang="zh-CN" altLang="zh-CN" dirty="0"/>
              <a:t>的建设，为后续多端 UI 提供了稳定的底层支撑。UI 方面经历了网页版（放弃）→ 桌面版（可用）→ 手机 App 版（主攻）的演进路径，当前正通过 GitHub Actions 云端打包 APK，即将进入真机测试阶段。</a:t>
            </a:r>
          </a:p>
          <a:p>
            <a:r>
              <a:rPr lang="zh-CN" altLang="zh-CN" dirty="0"/>
              <a:t>下一步将重点打磨手机端 UI 交互体验，通过</a:t>
            </a:r>
            <a:r>
              <a:rPr lang="zh-CN" altLang="zh-CN" b="1" dirty="0"/>
              <a:t>丰富的问题模板</a:t>
            </a:r>
            <a:r>
              <a:rPr lang="zh-CN" altLang="zh-CN" dirty="0"/>
              <a:t>降低用户使用门槛，同时推进大模型 API 的接入，实现从"规则问答"到"智能对话"的跨越。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9122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708AAF-F6B2-2C80-B60F-2987D8408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요약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DD7B6E-9824-4FEA-7DA4-B38E0C37E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프로젝트는 데이터베이스 재구성</a:t>
            </a:r>
            <a:r>
              <a:rPr lang="en-US" altLang="ko-KR" dirty="0"/>
              <a:t>, </a:t>
            </a:r>
            <a:r>
              <a:rPr lang="ko-KR" altLang="en-US" dirty="0"/>
              <a:t>검색 로직 업그레이드 및 통합 인터페이스 레이어 구축을 완료하여 후속 멀티 플랫폼 </a:t>
            </a:r>
            <a:r>
              <a:rPr lang="en-US" altLang="ko-KR" dirty="0"/>
              <a:t>UI</a:t>
            </a:r>
            <a:r>
              <a:rPr lang="ko-KR" altLang="en-US" dirty="0"/>
              <a:t>에 안정적인 하위 지원을 제공함</a:t>
            </a:r>
            <a:r>
              <a:rPr lang="en-US" altLang="ko-KR" dirty="0"/>
              <a:t>. UI </a:t>
            </a:r>
            <a:r>
              <a:rPr lang="ko-KR" altLang="en-US" dirty="0"/>
              <a:t>측면에서는 웹 버전</a:t>
            </a:r>
            <a:r>
              <a:rPr lang="en-US" altLang="ko-KR" dirty="0"/>
              <a:t>(</a:t>
            </a:r>
            <a:r>
              <a:rPr lang="ko-KR" altLang="en-US" dirty="0"/>
              <a:t>포기</a:t>
            </a:r>
            <a:r>
              <a:rPr lang="en-US" altLang="ko-KR" dirty="0"/>
              <a:t>) → </a:t>
            </a:r>
            <a:r>
              <a:rPr lang="ko-KR" altLang="en-US" dirty="0"/>
              <a:t>데스크톱 버전</a:t>
            </a:r>
            <a:r>
              <a:rPr lang="en-US" altLang="ko-KR" dirty="0"/>
              <a:t>(</a:t>
            </a:r>
            <a:r>
              <a:rPr lang="ko-KR" altLang="en-US" dirty="0"/>
              <a:t>사용 가능</a:t>
            </a:r>
            <a:r>
              <a:rPr lang="en-US" altLang="ko-KR" dirty="0"/>
              <a:t>) → </a:t>
            </a:r>
            <a:r>
              <a:rPr lang="ko-KR" altLang="en-US" dirty="0"/>
              <a:t>모바일 앱 버전</a:t>
            </a:r>
            <a:r>
              <a:rPr lang="en-US" altLang="ko-KR" dirty="0"/>
              <a:t>(</a:t>
            </a:r>
            <a:r>
              <a:rPr lang="ko-KR" altLang="en-US" dirty="0"/>
              <a:t>주력</a:t>
            </a:r>
            <a:r>
              <a:rPr lang="en-US" altLang="ko-KR" dirty="0"/>
              <a:t>)</a:t>
            </a:r>
            <a:r>
              <a:rPr lang="ko-KR" altLang="en-US" dirty="0"/>
              <a:t>의 진화 경로를 겪었으며</a:t>
            </a:r>
            <a:r>
              <a:rPr lang="en-US" altLang="ko-KR" dirty="0"/>
              <a:t>, </a:t>
            </a:r>
            <a:r>
              <a:rPr lang="ko-KR" altLang="en-US" dirty="0"/>
              <a:t>현재 </a:t>
            </a:r>
            <a:r>
              <a:rPr lang="en-US" altLang="ko-KR" dirty="0"/>
              <a:t>GitHub Actions </a:t>
            </a:r>
            <a:r>
              <a:rPr lang="ko-KR" altLang="en-US" dirty="0"/>
              <a:t>클라우드 </a:t>
            </a:r>
            <a:r>
              <a:rPr lang="en-US" altLang="ko-KR" dirty="0"/>
              <a:t>APK </a:t>
            </a:r>
            <a:r>
              <a:rPr lang="ko-KR" altLang="en-US" dirty="0"/>
              <a:t>패키징을 통해 실기기 테스트 단계에 곧 진입할 예정임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다음 단계에서는 모바일 </a:t>
            </a:r>
            <a:r>
              <a:rPr lang="en-US" altLang="ko-KR" dirty="0"/>
              <a:t>UI </a:t>
            </a:r>
            <a:r>
              <a:rPr lang="ko-KR" altLang="en-US" dirty="0"/>
              <a:t>상호작용 경험을 중점적으로 다듬고</a:t>
            </a:r>
            <a:r>
              <a:rPr lang="en-US" altLang="ko-KR" dirty="0"/>
              <a:t>, </a:t>
            </a:r>
            <a:r>
              <a:rPr lang="ko-KR" altLang="en-US" dirty="0"/>
              <a:t>풍부한 질문 템플릿을 통해 사용자 진입 장벽을 낮추는 동시에 대형 모델 </a:t>
            </a:r>
            <a:r>
              <a:rPr lang="en-US" altLang="ko-KR" dirty="0"/>
              <a:t>API </a:t>
            </a:r>
            <a:r>
              <a:rPr lang="ko-KR" altLang="en-US" dirty="0"/>
              <a:t>연동을 추진하여 </a:t>
            </a:r>
            <a:r>
              <a:rPr lang="en-US" altLang="ko-KR" dirty="0"/>
              <a:t>"</a:t>
            </a:r>
            <a:r>
              <a:rPr lang="ko-KR" altLang="en-US" dirty="0"/>
              <a:t>규칙 기반 </a:t>
            </a:r>
            <a:r>
              <a:rPr lang="en-US" altLang="ko-KR" dirty="0"/>
              <a:t>Q&amp;A"</a:t>
            </a:r>
            <a:r>
              <a:rPr lang="ko-KR" altLang="en-US" dirty="0"/>
              <a:t>에서 </a:t>
            </a:r>
            <a:r>
              <a:rPr lang="en-US" altLang="ko-KR" dirty="0"/>
              <a:t>"</a:t>
            </a:r>
            <a:r>
              <a:rPr lang="ko-KR" altLang="en-US" dirty="0"/>
              <a:t>지능형 대화</a:t>
            </a:r>
            <a:r>
              <a:rPr lang="en-US" altLang="ko-KR" dirty="0"/>
              <a:t>"</a:t>
            </a:r>
            <a:r>
              <a:rPr lang="ko-KR" altLang="en-US" dirty="0"/>
              <a:t>로의 도약을 실현할 것임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2128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2385</Words>
  <Application>Microsoft Office PowerPoint</Application>
  <PresentationFormat>宽屏</PresentationFormat>
  <Paragraphs>88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等线 Light</vt:lpstr>
      <vt:lpstr>Arial</vt:lpstr>
      <vt:lpstr>Office 主题​​</vt:lpstr>
      <vt:lpstr>釜山沙下区文旅与设施智能问答系统 — 项目进展报告书</vt:lpstr>
      <vt:lpstr>数据库重构与主系统更新</vt:lpstr>
      <vt:lpstr>데이터베이스 재구성 및 메인 시스템 업데이트</vt:lpstr>
      <vt:lpstr>PowerPoint 演示文稿</vt:lpstr>
      <vt:lpstr> 검색 로직 (현재 적용 중인 방안) </vt:lpstr>
      <vt:lpstr>桌面版开发（ui_desktop.py） </vt:lpstr>
      <vt:lpstr>통합 인터페이스 레이어 (core_api.py) </vt:lpstr>
      <vt:lpstr>下一步计划</vt:lpstr>
      <vt:lpstr>다음 단계 계획</vt:lpstr>
      <vt:lpstr>总结  </vt:lpstr>
      <vt:lpstr>요약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海生 罗</dc:creator>
  <cp:lastModifiedBy>海生 罗</cp:lastModifiedBy>
  <cp:revision>10</cp:revision>
  <dcterms:created xsi:type="dcterms:W3CDTF">2026-10-15T03:02:01Z</dcterms:created>
  <dcterms:modified xsi:type="dcterms:W3CDTF">2026-10-15T03:18:17Z</dcterms:modified>
</cp:coreProperties>
</file>